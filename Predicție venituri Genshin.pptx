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Open Sans 1 Ultra-Bold" charset="1" panose="00000000000000000000"/>
      <p:regular r:id="rId10"/>
    </p:embeddedFont>
    <p:embeddedFont>
      <p:font typeface="Open Sans 2" charset="1" panose="020B0606030504020204"/>
      <p:regular r:id="rId11"/>
    </p:embeddedFont>
    <p:embeddedFont>
      <p:font typeface="Open Sans 1 Bold" charset="1" panose="00000000000000000000"/>
      <p:regular r:id="rId12"/>
    </p:embeddedFont>
    <p:embeddedFont>
      <p:font typeface="Open Sans 2 Bold" charset="1" panose="020B0806030504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0304" y="1028700"/>
            <a:ext cx="672972" cy="455174"/>
          </a:xfrm>
          <a:custGeom>
            <a:avLst/>
            <a:gdLst/>
            <a:ahLst/>
            <a:cxnLst/>
            <a:rect r="r" b="b" t="t" l="l"/>
            <a:pathLst>
              <a:path h="455174" w="672972">
                <a:moveTo>
                  <a:pt x="0" y="0"/>
                </a:moveTo>
                <a:lnTo>
                  <a:pt x="672972" y="0"/>
                </a:lnTo>
                <a:lnTo>
                  <a:pt x="672972" y="455174"/>
                </a:lnTo>
                <a:lnTo>
                  <a:pt x="0" y="455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787319" y="1256287"/>
            <a:ext cx="14713363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520121" y="5399271"/>
            <a:ext cx="10705435" cy="8845366"/>
          </a:xfrm>
          <a:custGeom>
            <a:avLst/>
            <a:gdLst/>
            <a:ahLst/>
            <a:cxnLst/>
            <a:rect r="r" b="b" t="t" l="l"/>
            <a:pathLst>
              <a:path h="8845366" w="10705435">
                <a:moveTo>
                  <a:pt x="0" y="0"/>
                </a:moveTo>
                <a:lnTo>
                  <a:pt x="10705434" y="0"/>
                </a:lnTo>
                <a:lnTo>
                  <a:pt x="10705434" y="8845366"/>
                </a:lnTo>
                <a:lnTo>
                  <a:pt x="0" y="8845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9976837">
            <a:off x="8943539" y="5610091"/>
            <a:ext cx="10705435" cy="8845366"/>
          </a:xfrm>
          <a:custGeom>
            <a:avLst/>
            <a:gdLst/>
            <a:ahLst/>
            <a:cxnLst/>
            <a:rect r="r" b="b" t="t" l="l"/>
            <a:pathLst>
              <a:path h="8845366" w="10705435">
                <a:moveTo>
                  <a:pt x="10705435" y="0"/>
                </a:moveTo>
                <a:lnTo>
                  <a:pt x="0" y="0"/>
                </a:lnTo>
                <a:lnTo>
                  <a:pt x="0" y="8845366"/>
                </a:lnTo>
                <a:lnTo>
                  <a:pt x="10705435" y="8845366"/>
                </a:lnTo>
                <a:lnTo>
                  <a:pt x="10705435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7319" y="3758990"/>
            <a:ext cx="14713363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7200" b="true">
                <a:solidFill>
                  <a:srgbClr val="000000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Predicție venituri Genshin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3986" y="4972061"/>
            <a:ext cx="12180028" cy="66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3"/>
              </a:lnSpc>
            </a:pPr>
            <a:r>
              <a:rPr lang="en-US" sz="390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Alexe Diana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98598">
            <a:off x="12935283" y="-329535"/>
            <a:ext cx="10705435" cy="8845366"/>
          </a:xfrm>
          <a:custGeom>
            <a:avLst/>
            <a:gdLst/>
            <a:ahLst/>
            <a:cxnLst/>
            <a:rect r="r" b="b" t="t" l="l"/>
            <a:pathLst>
              <a:path h="8845366" w="10705435">
                <a:moveTo>
                  <a:pt x="0" y="0"/>
                </a:moveTo>
                <a:lnTo>
                  <a:pt x="10705434" y="0"/>
                </a:lnTo>
                <a:lnTo>
                  <a:pt x="10705434" y="8845365"/>
                </a:lnTo>
                <a:lnTo>
                  <a:pt x="0" y="88453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126469"/>
            <a:ext cx="16230600" cy="2903739"/>
          </a:xfrm>
          <a:custGeom>
            <a:avLst/>
            <a:gdLst/>
            <a:ahLst/>
            <a:cxnLst/>
            <a:rect r="r" b="b" t="t" l="l"/>
            <a:pathLst>
              <a:path h="2903739" w="16230600">
                <a:moveTo>
                  <a:pt x="0" y="0"/>
                </a:moveTo>
                <a:lnTo>
                  <a:pt x="16230600" y="0"/>
                </a:lnTo>
                <a:lnTo>
                  <a:pt x="16230600" y="2903739"/>
                </a:lnTo>
                <a:lnTo>
                  <a:pt x="0" y="2903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32913"/>
            <a:ext cx="12861749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Dataset-ul final va integra date din 4 surse principale: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YouTube API – metrici de popularitate (teaser + demo)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Revenue platforms (GenshinLab / Gacha Revenue DB)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Abyss usage scraping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Character metadata (element, weapon, rarity, region, release date)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Toate aceste informații vor fi integrate într-un dataset unic, structurat special pentru analiza și predicția revenue-ului bannerelor viitoare.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83269"/>
            <a:ext cx="5406998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9"/>
              </a:lnSpc>
            </a:pPr>
            <a:r>
              <a:rPr lang="en-US" sz="5299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Dataset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98598">
            <a:off x="9693299" y="-2989871"/>
            <a:ext cx="10705435" cy="8845366"/>
          </a:xfrm>
          <a:custGeom>
            <a:avLst/>
            <a:gdLst/>
            <a:ahLst/>
            <a:cxnLst/>
            <a:rect r="r" b="b" t="t" l="l"/>
            <a:pathLst>
              <a:path h="8845366" w="10705435">
                <a:moveTo>
                  <a:pt x="0" y="0"/>
                </a:moveTo>
                <a:lnTo>
                  <a:pt x="10705434" y="0"/>
                </a:lnTo>
                <a:lnTo>
                  <a:pt x="10705434" y="8845366"/>
                </a:lnTo>
                <a:lnTo>
                  <a:pt x="0" y="884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65818"/>
            <a:ext cx="6728498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 comparison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4000" y="2353010"/>
            <a:ext cx="5155223" cy="4887478"/>
            <a:chOff x="0" y="0"/>
            <a:chExt cx="1710662" cy="16218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0662" cy="1621816"/>
            </a:xfrm>
            <a:custGeom>
              <a:avLst/>
              <a:gdLst/>
              <a:ahLst/>
              <a:cxnLst/>
              <a:rect r="r" b="b" t="t" l="l"/>
              <a:pathLst>
                <a:path h="1621816" w="1710662">
                  <a:moveTo>
                    <a:pt x="76590" y="0"/>
                  </a:moveTo>
                  <a:lnTo>
                    <a:pt x="1634072" y="0"/>
                  </a:lnTo>
                  <a:cubicBezTo>
                    <a:pt x="1676372" y="0"/>
                    <a:pt x="1710662" y="34290"/>
                    <a:pt x="1710662" y="76590"/>
                  </a:cubicBezTo>
                  <a:lnTo>
                    <a:pt x="1710662" y="1545226"/>
                  </a:lnTo>
                  <a:cubicBezTo>
                    <a:pt x="1710662" y="1565539"/>
                    <a:pt x="1702593" y="1585020"/>
                    <a:pt x="1688229" y="1599383"/>
                  </a:cubicBezTo>
                  <a:cubicBezTo>
                    <a:pt x="1673866" y="1613747"/>
                    <a:pt x="1654385" y="1621816"/>
                    <a:pt x="1634072" y="1621816"/>
                  </a:cubicBezTo>
                  <a:lnTo>
                    <a:pt x="76590" y="1621816"/>
                  </a:lnTo>
                  <a:cubicBezTo>
                    <a:pt x="34290" y="1621816"/>
                    <a:pt x="0" y="1587525"/>
                    <a:pt x="0" y="1545226"/>
                  </a:cubicBezTo>
                  <a:lnTo>
                    <a:pt x="0" y="76590"/>
                  </a:lnTo>
                  <a:cubicBezTo>
                    <a:pt x="0" y="34290"/>
                    <a:pt x="34290" y="0"/>
                    <a:pt x="76590" y="0"/>
                  </a:cubicBezTo>
                  <a:close/>
                </a:path>
              </a:pathLst>
            </a:custGeom>
            <a:solidFill>
              <a:srgbClr val="FDE9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10662" cy="1659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46669" y="3165871"/>
            <a:ext cx="4149883" cy="184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2104" b="true">
                <a:solidFill>
                  <a:srgbClr val="21193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Linear Regression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Simplu, baseline 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Sensibil la outliers și relații non-liniare</a:t>
            </a:r>
          </a:p>
          <a:p>
            <a:pPr algn="ctr">
              <a:lnSpc>
                <a:spcPts val="2946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421361" y="2405138"/>
            <a:ext cx="5155223" cy="4887478"/>
            <a:chOff x="0" y="0"/>
            <a:chExt cx="1710662" cy="16218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0662" cy="1621816"/>
            </a:xfrm>
            <a:custGeom>
              <a:avLst/>
              <a:gdLst/>
              <a:ahLst/>
              <a:cxnLst/>
              <a:rect r="r" b="b" t="t" l="l"/>
              <a:pathLst>
                <a:path h="1621816" w="1710662">
                  <a:moveTo>
                    <a:pt x="76590" y="0"/>
                  </a:moveTo>
                  <a:lnTo>
                    <a:pt x="1634072" y="0"/>
                  </a:lnTo>
                  <a:cubicBezTo>
                    <a:pt x="1676372" y="0"/>
                    <a:pt x="1710662" y="34290"/>
                    <a:pt x="1710662" y="76590"/>
                  </a:cubicBezTo>
                  <a:lnTo>
                    <a:pt x="1710662" y="1545226"/>
                  </a:lnTo>
                  <a:cubicBezTo>
                    <a:pt x="1710662" y="1565539"/>
                    <a:pt x="1702593" y="1585020"/>
                    <a:pt x="1688229" y="1599383"/>
                  </a:cubicBezTo>
                  <a:cubicBezTo>
                    <a:pt x="1673866" y="1613747"/>
                    <a:pt x="1654385" y="1621816"/>
                    <a:pt x="1634072" y="1621816"/>
                  </a:cubicBezTo>
                  <a:lnTo>
                    <a:pt x="76590" y="1621816"/>
                  </a:lnTo>
                  <a:cubicBezTo>
                    <a:pt x="34290" y="1621816"/>
                    <a:pt x="0" y="1587525"/>
                    <a:pt x="0" y="1545226"/>
                  </a:cubicBezTo>
                  <a:lnTo>
                    <a:pt x="0" y="76590"/>
                  </a:lnTo>
                  <a:cubicBezTo>
                    <a:pt x="0" y="34290"/>
                    <a:pt x="34290" y="0"/>
                    <a:pt x="76590" y="0"/>
                  </a:cubicBezTo>
                  <a:close/>
                </a:path>
              </a:pathLst>
            </a:custGeom>
            <a:solidFill>
              <a:srgbClr val="FDE9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10662" cy="1659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98722" y="2505410"/>
            <a:ext cx="5155223" cy="4887478"/>
            <a:chOff x="0" y="0"/>
            <a:chExt cx="1710662" cy="16218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10662" cy="1621816"/>
            </a:xfrm>
            <a:custGeom>
              <a:avLst/>
              <a:gdLst/>
              <a:ahLst/>
              <a:cxnLst/>
              <a:rect r="r" b="b" t="t" l="l"/>
              <a:pathLst>
                <a:path h="1621816" w="1710662">
                  <a:moveTo>
                    <a:pt x="76590" y="0"/>
                  </a:moveTo>
                  <a:lnTo>
                    <a:pt x="1634072" y="0"/>
                  </a:lnTo>
                  <a:cubicBezTo>
                    <a:pt x="1676372" y="0"/>
                    <a:pt x="1710662" y="34290"/>
                    <a:pt x="1710662" y="76590"/>
                  </a:cubicBezTo>
                  <a:lnTo>
                    <a:pt x="1710662" y="1545226"/>
                  </a:lnTo>
                  <a:cubicBezTo>
                    <a:pt x="1710662" y="1565539"/>
                    <a:pt x="1702593" y="1585020"/>
                    <a:pt x="1688229" y="1599383"/>
                  </a:cubicBezTo>
                  <a:cubicBezTo>
                    <a:pt x="1673866" y="1613747"/>
                    <a:pt x="1654385" y="1621816"/>
                    <a:pt x="1634072" y="1621816"/>
                  </a:cubicBezTo>
                  <a:lnTo>
                    <a:pt x="76590" y="1621816"/>
                  </a:lnTo>
                  <a:cubicBezTo>
                    <a:pt x="34290" y="1621816"/>
                    <a:pt x="0" y="1587525"/>
                    <a:pt x="0" y="1545226"/>
                  </a:cubicBezTo>
                  <a:lnTo>
                    <a:pt x="0" y="76590"/>
                  </a:lnTo>
                  <a:cubicBezTo>
                    <a:pt x="0" y="34290"/>
                    <a:pt x="34290" y="0"/>
                    <a:pt x="76590" y="0"/>
                  </a:cubicBezTo>
                  <a:close/>
                </a:path>
              </a:pathLst>
            </a:custGeom>
            <a:solidFill>
              <a:srgbClr val="FDE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710662" cy="1659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924031" y="3165871"/>
            <a:ext cx="4380596" cy="147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2104" b="true">
                <a:solidFill>
                  <a:srgbClr val="21193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Random Forest Regressor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Bun pentru date mixte 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Captură relații non-liniare</a:t>
            </a:r>
          </a:p>
          <a:p>
            <a:pPr algn="ctr">
              <a:lnSpc>
                <a:spcPts val="294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300484" y="3165871"/>
            <a:ext cx="4149883" cy="184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2104" b="true">
                <a:solidFill>
                  <a:srgbClr val="21193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XGBoost Regressor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Performanță ridicată 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Feature importance clar 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Stabil la variații în date</a:t>
            </a:r>
          </a:p>
          <a:p>
            <a:pPr algn="ctr">
              <a:lnSpc>
                <a:spcPts val="294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65818"/>
            <a:ext cx="127868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Rezultat dorit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4904" y="2271583"/>
            <a:ext cx="15404853" cy="3815343"/>
            <a:chOff x="0" y="0"/>
            <a:chExt cx="5111806" cy="12660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11805" cy="1266048"/>
            </a:xfrm>
            <a:custGeom>
              <a:avLst/>
              <a:gdLst/>
              <a:ahLst/>
              <a:cxnLst/>
              <a:rect r="r" b="b" t="t" l="l"/>
              <a:pathLst>
                <a:path h="1266048" w="5111805">
                  <a:moveTo>
                    <a:pt x="25631" y="0"/>
                  </a:moveTo>
                  <a:lnTo>
                    <a:pt x="5086175" y="0"/>
                  </a:lnTo>
                  <a:cubicBezTo>
                    <a:pt x="5100330" y="0"/>
                    <a:pt x="5111805" y="11475"/>
                    <a:pt x="5111805" y="25631"/>
                  </a:cubicBezTo>
                  <a:lnTo>
                    <a:pt x="5111805" y="1240418"/>
                  </a:lnTo>
                  <a:cubicBezTo>
                    <a:pt x="5111805" y="1247215"/>
                    <a:pt x="5109105" y="1253735"/>
                    <a:pt x="5104299" y="1258541"/>
                  </a:cubicBezTo>
                  <a:cubicBezTo>
                    <a:pt x="5099492" y="1263348"/>
                    <a:pt x="5092972" y="1266048"/>
                    <a:pt x="5086175" y="1266048"/>
                  </a:cubicBezTo>
                  <a:lnTo>
                    <a:pt x="25631" y="1266048"/>
                  </a:lnTo>
                  <a:cubicBezTo>
                    <a:pt x="18833" y="1266048"/>
                    <a:pt x="12314" y="1263348"/>
                    <a:pt x="7507" y="1258541"/>
                  </a:cubicBezTo>
                  <a:cubicBezTo>
                    <a:pt x="2700" y="1253735"/>
                    <a:pt x="0" y="1247215"/>
                    <a:pt x="0" y="1240418"/>
                  </a:cubicBezTo>
                  <a:lnTo>
                    <a:pt x="0" y="25631"/>
                  </a:lnTo>
                  <a:cubicBezTo>
                    <a:pt x="0" y="18833"/>
                    <a:pt x="2700" y="12314"/>
                    <a:pt x="7507" y="7507"/>
                  </a:cubicBezTo>
                  <a:cubicBezTo>
                    <a:pt x="12314" y="2700"/>
                    <a:pt x="18833" y="0"/>
                    <a:pt x="25631" y="0"/>
                  </a:cubicBezTo>
                  <a:close/>
                </a:path>
              </a:pathLst>
            </a:custGeom>
            <a:solidFill>
              <a:srgbClr val="FDE9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11806" cy="13041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36984" y="2840418"/>
            <a:ext cx="12400694" cy="263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304" b="true">
                <a:solidFill>
                  <a:srgbClr val="21193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Date de intrare: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Personaje în banner: Arlecchino (rerun) + un personaj nou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Teaser trailer views: 14M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Gameplay demo views: 22M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Abyss usage în patch-ul precedent: 84%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Rerun indicator: 1</a:t>
            </a:r>
          </a:p>
          <a:p>
            <a:pPr algn="ctr">
              <a:lnSpc>
                <a:spcPts val="2946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34904" y="6325050"/>
            <a:ext cx="15251663" cy="3329876"/>
            <a:chOff x="0" y="0"/>
            <a:chExt cx="5060972" cy="11049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60972" cy="1104956"/>
            </a:xfrm>
            <a:custGeom>
              <a:avLst/>
              <a:gdLst/>
              <a:ahLst/>
              <a:cxnLst/>
              <a:rect r="r" b="b" t="t" l="l"/>
              <a:pathLst>
                <a:path h="1104956" w="5060972">
                  <a:moveTo>
                    <a:pt x="25888" y="0"/>
                  </a:moveTo>
                  <a:lnTo>
                    <a:pt x="5035084" y="0"/>
                  </a:lnTo>
                  <a:cubicBezTo>
                    <a:pt x="5049382" y="0"/>
                    <a:pt x="5060972" y="11591"/>
                    <a:pt x="5060972" y="25888"/>
                  </a:cubicBezTo>
                  <a:lnTo>
                    <a:pt x="5060972" y="1079067"/>
                  </a:lnTo>
                  <a:cubicBezTo>
                    <a:pt x="5060972" y="1085933"/>
                    <a:pt x="5058245" y="1092518"/>
                    <a:pt x="5053390" y="1097373"/>
                  </a:cubicBezTo>
                  <a:cubicBezTo>
                    <a:pt x="5048534" y="1102228"/>
                    <a:pt x="5041950" y="1104956"/>
                    <a:pt x="5035084" y="1104956"/>
                  </a:cubicBezTo>
                  <a:lnTo>
                    <a:pt x="25888" y="1104956"/>
                  </a:lnTo>
                  <a:cubicBezTo>
                    <a:pt x="19022" y="1104956"/>
                    <a:pt x="12437" y="1102228"/>
                    <a:pt x="7582" y="1097373"/>
                  </a:cubicBezTo>
                  <a:cubicBezTo>
                    <a:pt x="2727" y="1092518"/>
                    <a:pt x="0" y="1085933"/>
                    <a:pt x="0" y="1079067"/>
                  </a:cubicBezTo>
                  <a:lnTo>
                    <a:pt x="0" y="25888"/>
                  </a:lnTo>
                  <a:cubicBezTo>
                    <a:pt x="0" y="19022"/>
                    <a:pt x="2727" y="12437"/>
                    <a:pt x="7582" y="7582"/>
                  </a:cubicBezTo>
                  <a:cubicBezTo>
                    <a:pt x="12437" y="2727"/>
                    <a:pt x="19022" y="0"/>
                    <a:pt x="25888" y="0"/>
                  </a:cubicBezTo>
                  <a:close/>
                </a:path>
              </a:pathLst>
            </a:custGeom>
            <a:solidFill>
              <a:srgbClr val="FDE9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60972" cy="1143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436984" y="7213763"/>
            <a:ext cx="9415558" cy="1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6"/>
              </a:lnSpc>
            </a:pPr>
            <a:r>
              <a:rPr lang="en-US" sz="2404" b="true">
                <a:solidFill>
                  <a:srgbClr val="21193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Date de iesire: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Predicted Revenue: ~23,400,000 USD</a:t>
            </a:r>
          </a:p>
          <a:p>
            <a:pPr algn="l" marL="454443" indent="-227221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211939"/>
                </a:solidFill>
                <a:latin typeface="Open Sans 2"/>
                <a:ea typeface="Open Sans 2"/>
                <a:cs typeface="Open Sans 2"/>
                <a:sym typeface="Open Sans 2"/>
              </a:rPr>
              <a:t>95% Confidence Interval: 19.8M – 26.1M USD</a:t>
            </a:r>
          </a:p>
          <a:p>
            <a:pPr algn="ctr">
              <a:lnSpc>
                <a:spcPts val="2946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339757" y="821142"/>
            <a:ext cx="1215237" cy="1215237"/>
          </a:xfrm>
          <a:custGeom>
            <a:avLst/>
            <a:gdLst/>
            <a:ahLst/>
            <a:cxnLst/>
            <a:rect r="r" b="b" t="t" l="l"/>
            <a:pathLst>
              <a:path h="1215237" w="1215237">
                <a:moveTo>
                  <a:pt x="0" y="0"/>
                </a:moveTo>
                <a:lnTo>
                  <a:pt x="1215237" y="0"/>
                </a:lnTo>
                <a:lnTo>
                  <a:pt x="1215237" y="1215236"/>
                </a:lnTo>
                <a:lnTo>
                  <a:pt x="0" y="1215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DAG50cqf8QQ</dc:identifier>
  <dcterms:modified xsi:type="dcterms:W3CDTF">2011-08-01T06:04:30Z</dcterms:modified>
  <cp:revision>1</cp:revision>
  <dc:title>Predicție venituri Genshin</dc:title>
</cp:coreProperties>
</file>